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Bebas Neue"/>
      <p:regular r:id="rId15"/>
    </p:embeddedFont>
    <p:embeddedFont>
      <p:font typeface="Alata"/>
      <p:regular r:id="rId16"/>
    </p:embeddedFont>
    <p:embeddedFont>
      <p:font typeface="Kanit Light"/>
      <p:regular r:id="rId17"/>
      <p:bold r:id="rId18"/>
      <p:italic r:id="rId19"/>
      <p:boldItalic r:id="rId20"/>
    </p:embeddedFont>
    <p:embeddedFont>
      <p:font typeface="Kanit"/>
      <p:regular r:id="rId21"/>
      <p:bold r:id="rId22"/>
      <p:italic r:id="rId23"/>
      <p:boldItalic r:id="rId24"/>
    </p:embeddedFont>
    <p:embeddedFont>
      <p:font typeface="Martel Sans Light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LFtfOKsB6HQ+4fZFaRKVuZsMu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nitLight-boldItalic.fntdata"/><Relationship Id="rId22" Type="http://schemas.openxmlformats.org/officeDocument/2006/relationships/font" Target="fonts/Kanit-bold.fntdata"/><Relationship Id="rId21" Type="http://schemas.openxmlformats.org/officeDocument/2006/relationships/font" Target="fonts/Kanit-regular.fntdata"/><Relationship Id="rId24" Type="http://schemas.openxmlformats.org/officeDocument/2006/relationships/font" Target="fonts/Kanit-boldItalic.fntdata"/><Relationship Id="rId23" Type="http://schemas.openxmlformats.org/officeDocument/2006/relationships/font" Target="fonts/Kani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artelSansLight-bold.fntdata"/><Relationship Id="rId25" Type="http://schemas.openxmlformats.org/officeDocument/2006/relationships/font" Target="fonts/MartelSansLight-regular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BebasNeue-regular.fntdata"/><Relationship Id="rId14" Type="http://schemas.openxmlformats.org/officeDocument/2006/relationships/slide" Target="slides/slide10.xml"/><Relationship Id="rId17" Type="http://schemas.openxmlformats.org/officeDocument/2006/relationships/font" Target="fonts/KanitLight-regular.fntdata"/><Relationship Id="rId16" Type="http://schemas.openxmlformats.org/officeDocument/2006/relationships/font" Target="fonts/Alata-regular.fntdata"/><Relationship Id="rId19" Type="http://schemas.openxmlformats.org/officeDocument/2006/relationships/font" Target="fonts/KanitLight-italic.fntdata"/><Relationship Id="rId18" Type="http://schemas.openxmlformats.org/officeDocument/2006/relationships/font" Target="fonts/Kanit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302c5ef52_0_6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g3d302c5ef52_0_6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d302c5ef52_0_6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" name="Google Shape;10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1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" name="Google Shape;15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" name="Google Shape;20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" name="Google Shape;30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7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>
            <a:lvl1pPr lvl="0" algn="r">
              <a:buNone/>
              <a:defRPr sz="1900">
                <a:solidFill>
                  <a:schemeClr val="tx1"/>
                </a:solidFill>
              </a:defRPr>
            </a:lvl1pPr>
            <a:lvl2pPr lvl="1" algn="r">
              <a:buNone/>
              <a:defRPr sz="1900">
                <a:solidFill>
                  <a:schemeClr val="tx1"/>
                </a:solidFill>
              </a:defRPr>
            </a:lvl2pPr>
            <a:lvl3pPr lvl="2" algn="r">
              <a:buNone/>
              <a:defRPr sz="1900">
                <a:solidFill>
                  <a:schemeClr val="tx1"/>
                </a:solidFill>
              </a:defRPr>
            </a:lvl3pPr>
            <a:lvl4pPr lvl="3" algn="r">
              <a:buNone/>
              <a:defRPr sz="1900">
                <a:solidFill>
                  <a:schemeClr val="tx1"/>
                </a:solidFill>
              </a:defRPr>
            </a:lvl4pPr>
            <a:lvl5pPr lvl="4" algn="r">
              <a:buNone/>
              <a:defRPr sz="1900">
                <a:solidFill>
                  <a:schemeClr val="tx1"/>
                </a:solidFill>
              </a:defRPr>
            </a:lvl5pPr>
            <a:lvl6pPr lvl="5" algn="r">
              <a:buNone/>
              <a:defRPr sz="1900">
                <a:solidFill>
                  <a:schemeClr val="tx1"/>
                </a:solidFill>
              </a:defRPr>
            </a:lvl6pPr>
            <a:lvl7pPr lvl="6" algn="r">
              <a:buNone/>
              <a:defRPr sz="1900">
                <a:solidFill>
                  <a:schemeClr val="tx1"/>
                </a:solidFill>
              </a:defRPr>
            </a:lvl7pPr>
            <a:lvl8pPr lvl="7" algn="r">
              <a:buNone/>
              <a:defRPr sz="1900">
                <a:solidFill>
                  <a:schemeClr val="tx1"/>
                </a:solidFill>
              </a:defRPr>
            </a:lvl8pPr>
            <a:lvl9pPr lvl="8" algn="r">
              <a:buNone/>
              <a:defRPr sz="19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11" Type="http://schemas.openxmlformats.org/officeDocument/2006/relationships/image" Target="../media/image8.png"/><Relationship Id="rId10" Type="http://schemas.openxmlformats.org/officeDocument/2006/relationships/image" Target="../media/image21.png"/><Relationship Id="rId9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7.png"/><Relationship Id="rId8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5.png"/><Relationship Id="rId7" Type="http://schemas.openxmlformats.org/officeDocument/2006/relationships/image" Target="../media/image2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hyperlink" Target="https://github.com/jsboige/CoursIA/blob/main/MyIA.AI.Notebooks/QuantConnect/Python/QC-Py-10-Risk-Portfolio-Management.ipynb" TargetMode="External"/><Relationship Id="rId5" Type="http://schemas.openxmlformats.org/officeDocument/2006/relationships/hyperlink" Target="https://github.com/jsboige/CoursIA/blob/main/MyIA.AI.Notebooks/QuantConnect/Python/QC-Py-11-Technical-Indicators.ipynb" TargetMode="External"/><Relationship Id="rId6" Type="http://schemas.openxmlformats.org/officeDocument/2006/relationships/hyperlink" Target="https://github.com/jsboige/CoursIA/blob/main/MyIA.AI.Notebooks/QuantConnect/Python/QC-Py-08-Multi-Asset-Strategies.ipynb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/>
          <p:nvPr/>
        </p:nvSpPr>
        <p:spPr>
          <a:xfrm>
            <a:off x="791697" y="986933"/>
            <a:ext cx="13047000" cy="26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14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50"/>
              <a:buFont typeface="Kanit"/>
              <a:buNone/>
            </a:pPr>
            <a:r>
              <a:rPr lang="en-US" sz="84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Régime Switching &amp; Allocation Adaptative</a:t>
            </a:r>
            <a:endParaRPr sz="84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1320900" y="4415425"/>
            <a:ext cx="119886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6818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200"/>
              <a:buFont typeface="Martel Sans Light"/>
              <a:buNone/>
            </a:pPr>
            <a:r>
              <a:rPr lang="en-US" sz="23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Détection de régimes de marché par Machine Learning (HMM &amp; K-Means) et intégration sur QuantConnect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10277400" y="6224950"/>
            <a:ext cx="3032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ING4 - GR01 Finance</a:t>
            </a:r>
            <a:endParaRPr sz="2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Sujet H.4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1525" y="7540325"/>
            <a:ext cx="1868874" cy="6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 txBox="1"/>
          <p:nvPr/>
        </p:nvSpPr>
        <p:spPr>
          <a:xfrm>
            <a:off x="1320892" y="6224940"/>
            <a:ext cx="5029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BALAGUER Jules</a:t>
            </a:r>
            <a:endParaRPr sz="2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Brusset Marie-Anais</a:t>
            </a:r>
            <a:endParaRPr sz="2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FLOCH Anais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‹#›</a:t>
            </a:fld>
            <a:endParaRPr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1525" y="7540325"/>
            <a:ext cx="1868874" cy="6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/>
          <p:nvPr/>
        </p:nvSpPr>
        <p:spPr>
          <a:xfrm>
            <a:off x="1470600" y="870025"/>
            <a:ext cx="116892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Kanit"/>
              <a:buNone/>
            </a:pPr>
            <a:r>
              <a:rPr lang="en-US" sz="6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PLAN</a:t>
            </a:r>
            <a:endParaRPr sz="6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2" name="Google Shape;62;p2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‹#›</a:t>
            </a:fld>
            <a:endParaRPr/>
          </a:p>
        </p:txBody>
      </p:sp>
      <p:sp>
        <p:nvSpPr>
          <p:cNvPr id="63" name="Google Shape;63;p2"/>
          <p:cNvSpPr txBox="1"/>
          <p:nvPr/>
        </p:nvSpPr>
        <p:spPr>
          <a:xfrm>
            <a:off x="1169174" y="3285825"/>
            <a:ext cx="5558100" cy="28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rtl="0" algn="l">
              <a:lnSpc>
                <a:spcPct val="156818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3000"/>
              <a:buFont typeface="Martel Sans Light"/>
              <a:buAutoNum type="arabicPeriod"/>
            </a:pPr>
            <a:r>
              <a:rPr lang="en-US" sz="3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CONTEXTE</a:t>
            </a:r>
            <a:endParaRPr sz="3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  <a:p>
            <a:pPr indent="-419100" lvl="0" marL="457200" rtl="0" algn="l">
              <a:lnSpc>
                <a:spcPct val="156818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3000"/>
              <a:buFont typeface="Martel Sans Light"/>
              <a:buAutoNum type="arabicPeriod"/>
            </a:pPr>
            <a:r>
              <a:rPr lang="en-US" sz="3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PROBLÉMATIQUE</a:t>
            </a:r>
            <a:endParaRPr sz="3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  <a:p>
            <a:pPr indent="-419100" lvl="0" marL="457200" rtl="0" algn="l">
              <a:lnSpc>
                <a:spcPct val="156818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3000"/>
              <a:buFont typeface="Martel Sans Light"/>
              <a:buAutoNum type="arabicPeriod"/>
            </a:pPr>
            <a:r>
              <a:rPr lang="en-US" sz="3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ARCHITECTURE GLOBALE</a:t>
            </a:r>
            <a:endParaRPr sz="3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  <a:p>
            <a:pPr indent="-419100" lvl="0" marL="457200" rtl="0" algn="l">
              <a:lnSpc>
                <a:spcPct val="156818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3000"/>
              <a:buFont typeface="Martel Sans Light"/>
              <a:buAutoNum type="arabicPeriod"/>
            </a:pPr>
            <a:r>
              <a:rPr lang="en-US" sz="3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LE MOTEUR PRÉDICTIF</a:t>
            </a:r>
            <a:endParaRPr sz="3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7361637" y="3647925"/>
            <a:ext cx="6099600" cy="20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6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5.   ALLOCATION ET SAFETY NET </a:t>
            </a:r>
            <a:endParaRPr sz="3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  <a:p>
            <a:pPr indent="0" lvl="0" marL="0" rtl="0" algn="l">
              <a:lnSpc>
                <a:spcPct val="156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6.    DÉFIS RENCONTRÉS</a:t>
            </a:r>
            <a:endParaRPr sz="3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  <a:p>
            <a:pPr indent="0" lvl="0" marL="0" rtl="0" algn="l">
              <a:lnSpc>
                <a:spcPct val="156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7.	</a:t>
            </a:r>
            <a:r>
              <a:rPr lang="en-US" sz="3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CONCLUSION</a:t>
            </a:r>
            <a:endParaRPr sz="3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302c5ef52_0_62"/>
          <p:cNvSpPr/>
          <p:nvPr/>
        </p:nvSpPr>
        <p:spPr>
          <a:xfrm>
            <a:off x="715208" y="2455542"/>
            <a:ext cx="3769500" cy="2510700"/>
          </a:xfrm>
          <a:prstGeom prst="roundRect">
            <a:avLst>
              <a:gd fmla="val 1221" name="adj"/>
            </a:avLst>
          </a:prstGeom>
          <a:solidFill>
            <a:srgbClr val="2F2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g3d302c5ef52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520" y="2659853"/>
            <a:ext cx="613053" cy="613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g3d302c5ef52_0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112" y="2828326"/>
            <a:ext cx="275866" cy="27586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g3d302c5ef52_0_62"/>
          <p:cNvSpPr/>
          <p:nvPr/>
        </p:nvSpPr>
        <p:spPr>
          <a:xfrm>
            <a:off x="919520" y="3447332"/>
            <a:ext cx="2404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50"/>
              <a:buFont typeface="Kanit"/>
              <a:buNone/>
            </a:pPr>
            <a:r>
              <a:rPr lang="en-US" sz="185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Marchés dynamiques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d302c5ef52_0_62"/>
          <p:cNvSpPr/>
          <p:nvPr/>
        </p:nvSpPr>
        <p:spPr>
          <a:xfrm>
            <a:off x="919520" y="3852383"/>
            <a:ext cx="3360900" cy="9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87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600"/>
              <a:buFont typeface="Martel Sans Light"/>
              <a:buNone/>
            </a:pPr>
            <a:r>
              <a:rPr lang="en-US" sz="16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Les marchés financiers ne sont pas statiques et évoluent constamment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d302c5ef52_0_62"/>
          <p:cNvSpPr/>
          <p:nvPr/>
        </p:nvSpPr>
        <p:spPr>
          <a:xfrm>
            <a:off x="4659154" y="2455542"/>
            <a:ext cx="3769500" cy="2510700"/>
          </a:xfrm>
          <a:prstGeom prst="roundRect">
            <a:avLst>
              <a:gd fmla="val 1221" name="adj"/>
            </a:avLst>
          </a:prstGeom>
          <a:solidFill>
            <a:srgbClr val="2F2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g3d302c5ef52_0_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63465" y="2659853"/>
            <a:ext cx="613053" cy="613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" name="Google Shape;77;g3d302c5ef52_0_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2058" y="2828326"/>
            <a:ext cx="275866" cy="27586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d302c5ef52_0_62"/>
          <p:cNvSpPr/>
          <p:nvPr/>
        </p:nvSpPr>
        <p:spPr>
          <a:xfrm>
            <a:off x="4863465" y="3447332"/>
            <a:ext cx="2404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50"/>
              <a:buFont typeface="Kanit"/>
              <a:buNone/>
            </a:pPr>
            <a:r>
              <a:rPr lang="en-US" sz="185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Protection du capital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d302c5ef52_0_62"/>
          <p:cNvSpPr/>
          <p:nvPr/>
        </p:nvSpPr>
        <p:spPr>
          <a:xfrm>
            <a:off x="4863465" y="3852383"/>
            <a:ext cx="3360900" cy="9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87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600"/>
              <a:buFont typeface="Martel Sans Light"/>
              <a:buNone/>
            </a:pPr>
            <a:r>
              <a:rPr lang="en-US" sz="16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Adapter dynamiquement le portefeuille aux conditions réelles du marché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d302c5ef52_0_62"/>
          <p:cNvSpPr/>
          <p:nvPr/>
        </p:nvSpPr>
        <p:spPr>
          <a:xfrm>
            <a:off x="715208" y="5140520"/>
            <a:ext cx="7713600" cy="1904400"/>
          </a:xfrm>
          <a:prstGeom prst="roundRect">
            <a:avLst>
              <a:gd fmla="val 1610" name="adj"/>
            </a:avLst>
          </a:prstGeom>
          <a:solidFill>
            <a:srgbClr val="2F2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" name="Google Shape;81;g3d302c5ef52_0_6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9520" y="5344831"/>
            <a:ext cx="613053" cy="613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" name="Google Shape;82;g3d302c5ef52_0_6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8112" y="5513305"/>
            <a:ext cx="275866" cy="27586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d302c5ef52_0_62"/>
          <p:cNvSpPr/>
          <p:nvPr/>
        </p:nvSpPr>
        <p:spPr>
          <a:xfrm>
            <a:off x="919520" y="6132311"/>
            <a:ext cx="2404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50"/>
              <a:buFont typeface="Kanit"/>
              <a:buNone/>
            </a:pPr>
            <a:r>
              <a:rPr lang="en-US" sz="185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Maximiser les gains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d302c5ef52_0_62"/>
          <p:cNvSpPr/>
          <p:nvPr/>
        </p:nvSpPr>
        <p:spPr>
          <a:xfrm>
            <a:off x="919520" y="6537361"/>
            <a:ext cx="73050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87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600"/>
              <a:buFont typeface="Martel Sans Light"/>
              <a:buNone/>
            </a:pPr>
            <a:r>
              <a:rPr lang="en-US" sz="16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Capitaliser en période calme et protéger en période de tempête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g3d302c5ef52_0_6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761525" y="7540325"/>
            <a:ext cx="1868874" cy="6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d302c5ef52_0_62"/>
          <p:cNvSpPr/>
          <p:nvPr/>
        </p:nvSpPr>
        <p:spPr>
          <a:xfrm>
            <a:off x="715200" y="870025"/>
            <a:ext cx="116892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Kanit"/>
              <a:buNone/>
            </a:pPr>
            <a:r>
              <a:rPr lang="en-US" sz="6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Comprendre les cycles du marché</a:t>
            </a:r>
            <a:endParaRPr sz="6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7" name="Google Shape;87;g3d302c5ef52_0_62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‹#›</a:t>
            </a:fld>
            <a:endParaRPr/>
          </a:p>
        </p:txBody>
      </p:sp>
      <p:pic>
        <p:nvPicPr>
          <p:cNvPr id="88" name="Google Shape;88;g3d302c5ef52_0_62" title="Sans tire.png"/>
          <p:cNvPicPr preferRelativeResize="0"/>
          <p:nvPr/>
        </p:nvPicPr>
        <p:blipFill rotWithShape="1">
          <a:blip r:embed="rId10">
            <a:alphaModFix/>
          </a:blip>
          <a:srcRect b="5205" l="31288" r="20279" t="3646"/>
          <a:stretch/>
        </p:blipFill>
        <p:spPr>
          <a:xfrm>
            <a:off x="10732488" y="616563"/>
            <a:ext cx="2767151" cy="699647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d302c5ef52_0_62"/>
          <p:cNvSpPr txBox="1"/>
          <p:nvPr/>
        </p:nvSpPr>
        <p:spPr>
          <a:xfrm>
            <a:off x="11931425" y="616575"/>
            <a:ext cx="240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Actifs considérés</a:t>
            </a:r>
            <a:endParaRPr sz="20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g3d302c5ef52_0_6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flipH="1">
            <a:off x="9764075" y="2455550"/>
            <a:ext cx="33750" cy="546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/>
          <p:nvPr/>
        </p:nvSpPr>
        <p:spPr>
          <a:xfrm>
            <a:off x="791700" y="870025"/>
            <a:ext cx="130470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14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50"/>
              <a:buFont typeface="Kanit"/>
              <a:buNone/>
            </a:pPr>
            <a:r>
              <a:rPr lang="en-US" sz="6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Problématique</a:t>
            </a:r>
            <a:endParaRPr sz="6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791700" y="3459005"/>
            <a:ext cx="13047000" cy="13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3500"/>
              <a:buFont typeface="Martel Sans Light"/>
              <a:buNone/>
            </a:pPr>
            <a:r>
              <a:rPr b="1" lang="en-US" sz="35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Comment identifier objectivement l’état du marché pour adapter son allocation en consequence ?</a:t>
            </a:r>
            <a:endParaRPr b="1"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1525" y="7540325"/>
            <a:ext cx="1868874" cy="6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‹#›</a:t>
            </a:fld>
            <a:endParaRPr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7410" y="1253490"/>
            <a:ext cx="4259580" cy="572262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738608" y="870025"/>
            <a:ext cx="13153200" cy="1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Kanit"/>
              <a:buNone/>
            </a:pPr>
            <a:r>
              <a:rPr lang="en-US" sz="6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Architecture Globale</a:t>
            </a:r>
            <a:endParaRPr sz="6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descr="preencoded.png"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1525" y="7540325"/>
            <a:ext cx="1868874" cy="6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838950" y="870013"/>
            <a:ext cx="12952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4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Kanit"/>
              <a:buNone/>
            </a:pPr>
            <a:r>
              <a:rPr lang="en-US" sz="6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Moteur prédictif - HMM et K-Means</a:t>
            </a:r>
            <a:endParaRPr sz="6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descr="preencoded.png" id="115" name="Google Shape;1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951" y="2525958"/>
            <a:ext cx="1122998" cy="160246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2172689" y="2750510"/>
            <a:ext cx="26424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050"/>
              <a:buFont typeface="Kanit"/>
              <a:buNone/>
            </a:pPr>
            <a:r>
              <a:rPr lang="en-US" sz="205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Gaussian HMM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2172689" y="3207114"/>
            <a:ext cx="6238200" cy="6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750"/>
              <a:buFont typeface="Martel Sans Light"/>
              <a:buNone/>
            </a:pPr>
            <a:r>
              <a:rPr lang="en-US" sz="17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Hidden Markov Model : déduire les états cachés du marché en fonction des observations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951" y="4128420"/>
            <a:ext cx="1122998" cy="134766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/>
          <p:nvPr/>
        </p:nvSpPr>
        <p:spPr>
          <a:xfrm>
            <a:off x="2172689" y="4352972"/>
            <a:ext cx="26424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050"/>
              <a:buFont typeface="Kanit"/>
              <a:buNone/>
            </a:pPr>
            <a:r>
              <a:rPr lang="en-US" sz="205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K-Means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2172689" y="4809577"/>
            <a:ext cx="6238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750"/>
              <a:buFont typeface="Martel Sans Light"/>
              <a:buNone/>
            </a:pPr>
            <a:r>
              <a:rPr lang="en-US" sz="17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Confirmer la classification du HMM pour éviter l'overfitting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838950" y="5713148"/>
            <a:ext cx="7572000" cy="939900"/>
          </a:xfrm>
          <a:prstGeom prst="roundRect">
            <a:avLst>
              <a:gd fmla="val 2662" name="adj"/>
            </a:avLst>
          </a:prstGeom>
          <a:solidFill>
            <a:srgbClr val="4C010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3503" y="6018180"/>
            <a:ext cx="280749" cy="22455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1568800" y="5979953"/>
            <a:ext cx="6617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Martel Sans Light"/>
              <a:buNone/>
            </a:pPr>
            <a:r>
              <a:rPr b="1" lang="en-US" sz="1750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Code en pur Numpy</a:t>
            </a:r>
            <a:r>
              <a:rPr lang="en-US" sz="1750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pour optimiser les performances de calcul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761525" y="7540325"/>
            <a:ext cx="1868874" cy="6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‹#›</a:t>
            </a:fld>
            <a:endParaRPr/>
          </a:p>
        </p:txBody>
      </p:sp>
      <p:pic>
        <p:nvPicPr>
          <p:cNvPr id="126" name="Google Shape;126;p5" title="WhatsApp Image 2026-03-27 at 6.18.20 PM.jpeg"/>
          <p:cNvPicPr preferRelativeResize="0"/>
          <p:nvPr/>
        </p:nvPicPr>
        <p:blipFill rotWithShape="1">
          <a:blip r:embed="rId7">
            <a:alphaModFix/>
          </a:blip>
          <a:srcRect b="49467" l="1375" r="29863" t="0"/>
          <a:stretch/>
        </p:blipFill>
        <p:spPr>
          <a:xfrm>
            <a:off x="8872300" y="3594788"/>
            <a:ext cx="5400076" cy="184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3196174" y="892207"/>
            <a:ext cx="82380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4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00"/>
              <a:buFont typeface="Kanit"/>
              <a:buNone/>
            </a:pPr>
            <a:r>
              <a:rPr lang="en-US" sz="6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Allocation et Safety Net</a:t>
            </a:r>
            <a:endParaRPr sz="6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837724" y="2312432"/>
            <a:ext cx="129549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sng">
                <a:solidFill>
                  <a:srgbClr val="D9E1FF"/>
                </a:solidFill>
                <a:latin typeface="Alata"/>
                <a:ea typeface="Alata"/>
                <a:cs typeface="Alata"/>
                <a:sym typeface="Alata"/>
              </a:rPr>
              <a:t>ALLOCATION GRADUELLE</a:t>
            </a:r>
            <a:endParaRPr b="1" sz="2500" u="sng"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196697" y="3284620"/>
            <a:ext cx="3799500" cy="239400"/>
          </a:xfrm>
          <a:prstGeom prst="roundRect">
            <a:avLst>
              <a:gd fmla="val 15004" name="adj"/>
            </a:avLst>
          </a:prstGeom>
          <a:solidFill>
            <a:srgbClr val="2F2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837724" y="3045245"/>
            <a:ext cx="718200" cy="718200"/>
          </a:xfrm>
          <a:prstGeom prst="roundRect">
            <a:avLst>
              <a:gd fmla="val 63671" name="adj"/>
            </a:avLst>
          </a:prstGeom>
          <a:solidFill>
            <a:srgbClr val="2F2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270" y="3224791"/>
            <a:ext cx="358973" cy="35897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1077039" y="4002686"/>
            <a:ext cx="28161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200"/>
              <a:buFont typeface="Kanit"/>
              <a:buNone/>
            </a:pPr>
            <a:r>
              <a:rPr lang="en-US" sz="220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Régime Bull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077039" y="4498224"/>
            <a:ext cx="3680100" cy="1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50"/>
              <a:buFont typeface="Martel Sans Light"/>
              <a:buNone/>
            </a:pPr>
            <a:r>
              <a:rPr b="1" lang="en-US" sz="18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85% Actions</a:t>
            </a:r>
            <a:r>
              <a:rPr lang="en-US" sz="18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, 10% Or, allocation offensive pour maximiser les gains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594747" y="3658553"/>
            <a:ext cx="3799642" cy="239316"/>
          </a:xfrm>
          <a:prstGeom prst="roundRect">
            <a:avLst>
              <a:gd fmla="val 15004" name="adj"/>
            </a:avLst>
          </a:prstGeom>
          <a:solidFill>
            <a:srgbClr val="2F2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235773" y="3419177"/>
            <a:ext cx="718066" cy="718066"/>
          </a:xfrm>
          <a:prstGeom prst="roundRect">
            <a:avLst>
              <a:gd fmla="val 63671" name="adj"/>
            </a:avLst>
          </a:prstGeom>
          <a:solidFill>
            <a:srgbClr val="2F2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1" name="Google Shape;14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5320" y="3598724"/>
            <a:ext cx="358973" cy="35897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/>
          <p:nvPr/>
        </p:nvSpPr>
        <p:spPr>
          <a:xfrm>
            <a:off x="5475089" y="4376618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200"/>
              <a:buFont typeface="Kanit"/>
              <a:buNone/>
            </a:pPr>
            <a:r>
              <a:rPr lang="en-US" sz="220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Régime Neutral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475089" y="4872157"/>
            <a:ext cx="368010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50"/>
              <a:buFont typeface="Martel Sans Light"/>
              <a:buNone/>
            </a:pPr>
            <a:r>
              <a:rPr lang="en-US" sz="18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Portefeuille équilibré, exposition modérée aux différents actifs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9992797" y="4017654"/>
            <a:ext cx="3799800" cy="239400"/>
          </a:xfrm>
          <a:prstGeom prst="roundRect">
            <a:avLst>
              <a:gd fmla="val 15004" name="adj"/>
            </a:avLst>
          </a:prstGeom>
          <a:solidFill>
            <a:srgbClr val="2F2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9633823" y="3778279"/>
            <a:ext cx="718200" cy="718200"/>
          </a:xfrm>
          <a:prstGeom prst="roundRect">
            <a:avLst>
              <a:gd fmla="val 63671" name="adj"/>
            </a:avLst>
          </a:prstGeom>
          <a:solidFill>
            <a:srgbClr val="2F2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3369" y="3957825"/>
            <a:ext cx="358973" cy="35897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/>
          <p:nvPr/>
        </p:nvSpPr>
        <p:spPr>
          <a:xfrm>
            <a:off x="9873139" y="4735720"/>
            <a:ext cx="28161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200"/>
              <a:buFont typeface="Kanit"/>
              <a:buNone/>
            </a:pPr>
            <a:r>
              <a:rPr lang="en-US" sz="220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Régime Bear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9873139" y="5231258"/>
            <a:ext cx="3680100" cy="1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50"/>
              <a:buFont typeface="Martel Sans Light"/>
              <a:buNone/>
            </a:pPr>
            <a:r>
              <a:rPr b="1" lang="en-US" sz="18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Rotation défensive</a:t>
            </a:r>
            <a:r>
              <a:rPr lang="en-US" sz="18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: Obligations, Or, et 20% Matières Premières (DJP)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37724" y="6888837"/>
            <a:ext cx="12954952" cy="478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sng">
                <a:solidFill>
                  <a:srgbClr val="D9E1FF"/>
                </a:solidFill>
                <a:latin typeface="Alata"/>
                <a:ea typeface="Alata"/>
                <a:cs typeface="Alata"/>
                <a:sym typeface="Alata"/>
              </a:rPr>
              <a:t>DÉTECTEUR DE CRISE QUOTIDIEN </a:t>
            </a:r>
            <a:r>
              <a:rPr b="1" lang="en-US" sz="18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(</a:t>
            </a:r>
            <a:r>
              <a:rPr b="1" lang="en-US" sz="1850">
                <a:solidFill>
                  <a:srgbClr val="1F7135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_daily_crisis_check</a:t>
            </a:r>
            <a:r>
              <a:rPr b="1" lang="en-US" sz="18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)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761525" y="7540325"/>
            <a:ext cx="1868874" cy="6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6324149" y="2877604"/>
            <a:ext cx="7468500" cy="1418100"/>
          </a:xfrm>
          <a:prstGeom prst="roundRect">
            <a:avLst>
              <a:gd fmla="val 10317" name="adj"/>
            </a:avLst>
          </a:prstGeom>
          <a:solidFill>
            <a:srgbClr val="100C35"/>
          </a:solidFill>
          <a:ln cap="flat" cmpd="sng" w="30475">
            <a:solidFill>
              <a:srgbClr val="4844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8" name="Google Shape;1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3669" y="2877603"/>
            <a:ext cx="121920" cy="141815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7"/>
          <p:cNvSpPr/>
          <p:nvPr/>
        </p:nvSpPr>
        <p:spPr>
          <a:xfrm>
            <a:off x="6685384" y="3147399"/>
            <a:ext cx="4339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200"/>
              <a:buFont typeface="Kanit"/>
              <a:buNone/>
            </a:pPr>
            <a:r>
              <a:rPr lang="en-US" sz="220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Environnement de développement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685384" y="3642938"/>
            <a:ext cx="6837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50"/>
              <a:buFont typeface="Martel Sans Light"/>
              <a:buNone/>
            </a:pPr>
            <a:r>
              <a:rPr lang="en-US" sz="18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QuantConnect - VsCode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324149" y="4535073"/>
            <a:ext cx="7468500" cy="1418100"/>
          </a:xfrm>
          <a:prstGeom prst="roundRect">
            <a:avLst>
              <a:gd fmla="val 10317" name="adj"/>
            </a:avLst>
          </a:prstGeom>
          <a:solidFill>
            <a:srgbClr val="100C35"/>
          </a:solidFill>
          <a:ln cap="flat" cmpd="sng" w="30475">
            <a:solidFill>
              <a:srgbClr val="4844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3669" y="4535073"/>
            <a:ext cx="121920" cy="141815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6685384" y="4804869"/>
            <a:ext cx="28161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200"/>
              <a:buFont typeface="Kanit"/>
              <a:buNone/>
            </a:pPr>
            <a:r>
              <a:rPr lang="en-US" sz="220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Classification stable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685384" y="5300407"/>
            <a:ext cx="6837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50"/>
              <a:buFont typeface="Martel Sans Light"/>
              <a:buNone/>
            </a:pPr>
            <a:r>
              <a:rPr lang="en-US" sz="18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Challenge de labelling 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5" name="Google Shape;16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61525" y="7540325"/>
            <a:ext cx="1868874" cy="6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7"/>
          <p:cNvSpPr/>
          <p:nvPr/>
        </p:nvSpPr>
        <p:spPr>
          <a:xfrm>
            <a:off x="1470600" y="870025"/>
            <a:ext cx="116892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Kanit"/>
              <a:buNone/>
            </a:pPr>
            <a:r>
              <a:rPr lang="en-US" sz="6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Défis rencontrés</a:t>
            </a:r>
            <a:endParaRPr sz="6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67" name="Google Shape;167;p7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‹#›</a:t>
            </a:fld>
            <a:endParaRPr/>
          </a:p>
        </p:txBody>
      </p:sp>
      <p:pic>
        <p:nvPicPr>
          <p:cNvPr id="168" name="Google Shape;168;p7"/>
          <p:cNvPicPr preferRelativeResize="0"/>
          <p:nvPr/>
        </p:nvPicPr>
        <p:blipFill rotWithShape="1">
          <a:blip r:embed="rId5">
            <a:alphaModFix/>
          </a:blip>
          <a:srcRect b="13412" l="0" r="27536" t="0"/>
          <a:stretch/>
        </p:blipFill>
        <p:spPr>
          <a:xfrm>
            <a:off x="436225" y="2389124"/>
            <a:ext cx="5311600" cy="3564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/>
          <p:nvPr/>
        </p:nvSpPr>
        <p:spPr>
          <a:xfrm>
            <a:off x="802838" y="2120027"/>
            <a:ext cx="4318040" cy="539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Kanit"/>
              <a:buNone/>
            </a:pPr>
            <a:r>
              <a:rPr b="1" lang="en-US" sz="2500" u="sng">
                <a:solidFill>
                  <a:srgbClr val="FFFFFF"/>
                </a:solidFill>
                <a:latin typeface="Alata"/>
                <a:ea typeface="Alata"/>
                <a:cs typeface="Alata"/>
                <a:sym typeface="Alata"/>
              </a:rPr>
              <a:t>BILAN  </a:t>
            </a:r>
            <a:endParaRPr b="1" sz="2500" u="sng"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02763" y="2862771"/>
            <a:ext cx="6402600" cy="1646400"/>
          </a:xfrm>
          <a:prstGeom prst="roundRect">
            <a:avLst>
              <a:gd fmla="val 2090" name="adj"/>
            </a:avLst>
          </a:prstGeom>
          <a:solidFill>
            <a:srgbClr val="2F2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1032073" y="3092075"/>
            <a:ext cx="4883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00"/>
              <a:buFont typeface="Kanit"/>
              <a:buNone/>
            </a:pPr>
            <a:r>
              <a:rPr b="1" lang="en-US" sz="210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Validation des objectifs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032078" y="3561192"/>
            <a:ext cx="59439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00"/>
              <a:buFont typeface="Martel Sans Light"/>
              <a:buNone/>
            </a:pPr>
            <a:r>
              <a:rPr lang="en-US" sz="18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Objectifs de niveau "Excellent" atteints avec succès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7425020" y="2862771"/>
            <a:ext cx="6402600" cy="1646400"/>
          </a:xfrm>
          <a:prstGeom prst="roundRect">
            <a:avLst>
              <a:gd fmla="val 2090" name="adj"/>
            </a:avLst>
          </a:prstGeom>
          <a:solidFill>
            <a:srgbClr val="2F2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7654334" y="3092086"/>
            <a:ext cx="2698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00"/>
              <a:buFont typeface="Kanit"/>
              <a:buNone/>
            </a:pPr>
            <a:r>
              <a:rPr b="1" lang="en-US" sz="210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Approche hybride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7654334" y="3561192"/>
            <a:ext cx="59439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00"/>
              <a:buFont typeface="Martel Sans Light"/>
              <a:buNone/>
            </a:pPr>
            <a:r>
              <a:rPr lang="en-US" sz="18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Vision macroéconomique mensuelle + réactivité microéconomique quotidienne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802838" y="4965502"/>
            <a:ext cx="5699165" cy="539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Kanit"/>
              <a:buNone/>
            </a:pPr>
            <a:r>
              <a:rPr b="1" lang="en-US" sz="2500" u="sng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PISTES D'AMÉLIORATION FUTURES</a:t>
            </a:r>
            <a:endParaRPr b="1" sz="25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802763" y="5698521"/>
            <a:ext cx="2292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00"/>
              <a:buFont typeface="Kanit Light"/>
              <a:buNone/>
            </a:pPr>
            <a:r>
              <a:rPr lang="en-US" sz="1800">
                <a:solidFill>
                  <a:srgbClr val="D9E1FF"/>
                </a:solidFill>
                <a:latin typeface="Kanit Light"/>
                <a:ea typeface="Kanit Light"/>
                <a:cs typeface="Kanit Light"/>
                <a:sym typeface="Kanit Light"/>
              </a:rPr>
              <a:t>01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3" name="Google Shape;1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413" y="6071202"/>
            <a:ext cx="6402467" cy="3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/>
          <p:nvPr/>
        </p:nvSpPr>
        <p:spPr>
          <a:xfrm>
            <a:off x="802779" y="6233475"/>
            <a:ext cx="4745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00"/>
              <a:buFont typeface="Kanit"/>
              <a:buNone/>
            </a:pPr>
            <a:r>
              <a:rPr b="1" lang="en-US" sz="210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Données macro-économiques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802763" y="6702575"/>
            <a:ext cx="64026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00"/>
              <a:buFont typeface="Martel Sans Light"/>
              <a:buNone/>
            </a:pPr>
            <a:r>
              <a:rPr lang="en-US" sz="18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Intégrer des indicateurs macro dans les features du modèle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7425031" y="5698525"/>
            <a:ext cx="495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00"/>
              <a:buFont typeface="Kanit Light"/>
              <a:buNone/>
            </a:pPr>
            <a:r>
              <a:rPr lang="en-US" sz="1800">
                <a:solidFill>
                  <a:srgbClr val="D9E1FF"/>
                </a:solidFill>
                <a:latin typeface="Kanit Light"/>
                <a:ea typeface="Kanit Light"/>
                <a:cs typeface="Kanit Light"/>
                <a:sym typeface="Kanit Light"/>
              </a:rPr>
              <a:t>02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7" name="Google Shape;18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5020" y="6057852"/>
            <a:ext cx="6402467" cy="3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/>
          <p:cNvSpPr/>
          <p:nvPr/>
        </p:nvSpPr>
        <p:spPr>
          <a:xfrm>
            <a:off x="7425027" y="6233475"/>
            <a:ext cx="4523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00"/>
              <a:buFont typeface="Kanit"/>
              <a:buNone/>
            </a:pPr>
            <a:r>
              <a:rPr b="1" lang="en-US" sz="210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Optimisation Walk-Forward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7425020" y="6702575"/>
            <a:ext cx="64026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00"/>
              <a:buFont typeface="Martel Sans Light"/>
              <a:buNone/>
            </a:pPr>
            <a:r>
              <a:rPr lang="en-US" sz="18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Implémenter une logique d'optimisation glissante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0" name="Google Shape;19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61525" y="7540325"/>
            <a:ext cx="1868874" cy="689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1" name="Google Shape;19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-5400000">
            <a:off x="3987125" y="2845749"/>
            <a:ext cx="33750" cy="637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2" name="Google Shape;19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-5400000">
            <a:off x="10609375" y="2845749"/>
            <a:ext cx="33750" cy="63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8"/>
          <p:cNvSpPr/>
          <p:nvPr/>
        </p:nvSpPr>
        <p:spPr>
          <a:xfrm>
            <a:off x="1470600" y="870025"/>
            <a:ext cx="116892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Kanit"/>
              <a:buNone/>
            </a:pPr>
            <a:r>
              <a:rPr lang="en-US" sz="6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Conclusion</a:t>
            </a:r>
            <a:endParaRPr sz="6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94" name="Google Shape;194;p8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0" name="Google Shape;2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1525" y="7540325"/>
            <a:ext cx="1868874" cy="6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9"/>
          <p:cNvSpPr/>
          <p:nvPr/>
        </p:nvSpPr>
        <p:spPr>
          <a:xfrm>
            <a:off x="1470600" y="870025"/>
            <a:ext cx="116892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Kanit"/>
              <a:buNone/>
            </a:pPr>
            <a:r>
              <a:rPr lang="en-US" sz="6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SOURCES</a:t>
            </a:r>
            <a:endParaRPr sz="6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1470600" y="2481550"/>
            <a:ext cx="11689200" cy="43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Notebooks : </a:t>
            </a:r>
            <a:endParaRPr b="1" sz="3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  <a:p>
            <a:pPr indent="-419100" lvl="0" marL="457200" rtl="0" algn="l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3000"/>
              <a:buFont typeface="Martel Sans Light"/>
              <a:buChar char="●"/>
            </a:pPr>
            <a:r>
              <a:rPr b="1" lang="en-US" sz="3000" u="sng">
                <a:solidFill>
                  <a:schemeClr val="hlink"/>
                </a:solidFill>
                <a:latin typeface="Martel Sans Light"/>
                <a:ea typeface="Martel Sans Light"/>
                <a:cs typeface="Martel Sans Light"/>
                <a:sym typeface="Martel Sans Light"/>
                <a:hlinkClick r:id="rId4"/>
              </a:rPr>
              <a:t>QC-Py-10 - Risk et Portfolio Management</a:t>
            </a:r>
            <a:r>
              <a:rPr b="1" lang="en-US" sz="3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	</a:t>
            </a:r>
            <a:endParaRPr b="1" sz="3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  <a:p>
            <a:pPr indent="-419100" lvl="0" marL="457200" rtl="0" algn="l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3000"/>
              <a:buFont typeface="Martel Sans Light"/>
              <a:buChar char="●"/>
            </a:pPr>
            <a:r>
              <a:rPr b="1" lang="en-US" sz="3000" u="sng">
                <a:solidFill>
                  <a:schemeClr val="hlink"/>
                </a:solidFill>
                <a:latin typeface="Martel Sans Light"/>
                <a:ea typeface="Martel Sans Light"/>
                <a:cs typeface="Martel Sans Light"/>
                <a:sym typeface="Martel Sans Light"/>
                <a:hlinkClick r:id="rId5"/>
              </a:rPr>
              <a:t>QC-Py-11 - Indicateurs Techniques</a:t>
            </a:r>
            <a:r>
              <a:rPr b="1" lang="en-US" sz="3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	</a:t>
            </a:r>
            <a:endParaRPr b="1" sz="3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  <a:p>
            <a:pPr indent="-419100" lvl="0" marL="457200" rtl="0" algn="l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3000"/>
              <a:buFont typeface="Martel Sans Light"/>
              <a:buChar char="●"/>
            </a:pPr>
            <a:r>
              <a:rPr b="1" lang="en-US" sz="3000" u="sng">
                <a:solidFill>
                  <a:schemeClr val="hlink"/>
                </a:solidFill>
                <a:latin typeface="Martel Sans Light"/>
                <a:ea typeface="Martel Sans Light"/>
                <a:cs typeface="Martel Sans Light"/>
                <a:sym typeface="Martel Sans Light"/>
                <a:hlinkClick r:id="rId6"/>
              </a:rPr>
              <a:t>QC-Py-08 - Strategies Multi-Asset</a:t>
            </a:r>
            <a:endParaRPr sz="60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03" name="Google Shape;203;p9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2026-03-27T13:18:14Z</dcterms:created>
</cp:coreProperties>
</file>
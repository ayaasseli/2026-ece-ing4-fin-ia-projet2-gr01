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Bebas Neue"/>
      <p:regular r:id="rId17"/>
    </p:embeddedFont>
    <p:embeddedFont>
      <p:font typeface="Alata"/>
      <p:regular r:id="rId18"/>
    </p:embeddedFont>
    <p:embeddedFont>
      <p:font typeface="Kanit Light"/>
      <p:regular r:id="rId19"/>
      <p:bold r:id="rId20"/>
      <p:italic r:id="rId21"/>
      <p:boldItalic r:id="rId22"/>
    </p:embeddedFont>
    <p:embeddedFont>
      <p:font typeface="Kanit"/>
      <p:regular r:id="rId23"/>
      <p:bold r:id="rId24"/>
      <p:italic r:id="rId25"/>
      <p:boldItalic r:id="rId26"/>
    </p:embeddedFont>
    <p:embeddedFont>
      <p:font typeface="Martel Sans Light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AR/O1cBA8zd02S2c9G0ENasTZ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Light-bold.fntdata"/><Relationship Id="rId22" Type="http://schemas.openxmlformats.org/officeDocument/2006/relationships/font" Target="fonts/KanitLight-boldItalic.fntdata"/><Relationship Id="rId21" Type="http://schemas.openxmlformats.org/officeDocument/2006/relationships/font" Target="fonts/KanitLight-italic.fntdata"/><Relationship Id="rId24" Type="http://schemas.openxmlformats.org/officeDocument/2006/relationships/font" Target="fonts/Kanit-bold.fntdata"/><Relationship Id="rId23" Type="http://schemas.openxmlformats.org/officeDocument/2006/relationships/font" Target="fonts/Kani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Kanit-boldItalic.fntdata"/><Relationship Id="rId25" Type="http://schemas.openxmlformats.org/officeDocument/2006/relationships/font" Target="fonts/Kanit-italic.fntdata"/><Relationship Id="rId28" Type="http://schemas.openxmlformats.org/officeDocument/2006/relationships/font" Target="fonts/MartelSansLight-bold.fntdata"/><Relationship Id="rId27" Type="http://schemas.openxmlformats.org/officeDocument/2006/relationships/font" Target="fonts/MartelSa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BebasNeue-regular.fntdata"/><Relationship Id="rId16" Type="http://schemas.openxmlformats.org/officeDocument/2006/relationships/slide" Target="slides/slide12.xml"/><Relationship Id="rId19" Type="http://schemas.openxmlformats.org/officeDocument/2006/relationships/font" Target="fonts/KanitLight-regular.fntdata"/><Relationship Id="rId18" Type="http://schemas.openxmlformats.org/officeDocument/2006/relationships/font" Target="fonts/Alat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02c5ef52_0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3d302c5ef52_0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d302c5ef52_0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302c5ef52_0_1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d302c5ef52_0_1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302c5ef52_0_1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302c5ef52_0_1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3d302c5ef52_0_1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d302c5ef52_0_1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" name="Google Shape;10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" name="Google Shape;15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100" lIns="134100" spcFirstLastPara="1" rIns="134100" wrap="square" tIns="134100">
            <a:noAutofit/>
          </a:bodyPr>
          <a:lstStyle>
            <a:lvl1pPr lvl="0" algn="r">
              <a:buNone/>
              <a:defRPr sz="1900">
                <a:solidFill>
                  <a:schemeClr val="tx1"/>
                </a:solidFill>
              </a:defRPr>
            </a:lvl1pPr>
            <a:lvl2pPr lvl="1" algn="r">
              <a:buNone/>
              <a:defRPr sz="1900">
                <a:solidFill>
                  <a:schemeClr val="tx1"/>
                </a:solidFill>
              </a:defRPr>
            </a:lvl2pPr>
            <a:lvl3pPr lvl="2" algn="r">
              <a:buNone/>
              <a:defRPr sz="1900">
                <a:solidFill>
                  <a:schemeClr val="tx1"/>
                </a:solidFill>
              </a:defRPr>
            </a:lvl3pPr>
            <a:lvl4pPr lvl="3" algn="r">
              <a:buNone/>
              <a:defRPr sz="1900">
                <a:solidFill>
                  <a:schemeClr val="tx1"/>
                </a:solidFill>
              </a:defRPr>
            </a:lvl4pPr>
            <a:lvl5pPr lvl="4" algn="r">
              <a:buNone/>
              <a:defRPr sz="1900">
                <a:solidFill>
                  <a:schemeClr val="tx1"/>
                </a:solidFill>
              </a:defRPr>
            </a:lvl5pPr>
            <a:lvl6pPr lvl="5" algn="r">
              <a:buNone/>
              <a:defRPr sz="1900">
                <a:solidFill>
                  <a:schemeClr val="tx1"/>
                </a:solidFill>
              </a:defRPr>
            </a:lvl6pPr>
            <a:lvl7pPr lvl="6" algn="r">
              <a:buNone/>
              <a:defRPr sz="1900">
                <a:solidFill>
                  <a:schemeClr val="tx1"/>
                </a:solidFill>
              </a:defRPr>
            </a:lvl7pPr>
            <a:lvl8pPr lvl="7" algn="r">
              <a:buNone/>
              <a:defRPr sz="1900">
                <a:solidFill>
                  <a:schemeClr val="tx1"/>
                </a:solidFill>
              </a:defRPr>
            </a:lvl8pPr>
            <a:lvl9pPr lvl="8" algn="r">
              <a:buNone/>
              <a:defRPr sz="19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11" Type="http://schemas.openxmlformats.org/officeDocument/2006/relationships/image" Target="../media/image6.png"/><Relationship Id="rId10" Type="http://schemas.openxmlformats.org/officeDocument/2006/relationships/image" Target="../media/image21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2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github.com/jsboige/CoursIA/blob/main/MyIA.AI.Notebooks/QuantConnect/Python/QC-Py-10-Risk-Portfolio-Management.ipynb" TargetMode="External"/><Relationship Id="rId5" Type="http://schemas.openxmlformats.org/officeDocument/2006/relationships/hyperlink" Target="https://github.com/jsboige/CoursIA/blob/main/MyIA.AI.Notebooks/QuantConnect/Python/QC-Py-11-Technical-Indicators.ipynb" TargetMode="External"/><Relationship Id="rId6" Type="http://schemas.openxmlformats.org/officeDocument/2006/relationships/hyperlink" Target="https://github.com/jsboige/CoursIA/blob/main/MyIA.AI.Notebooks/QuantConnect/Python/QC-Py-08-Multi-Asset-Strategies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791697" y="986933"/>
            <a:ext cx="13047000" cy="26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1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50"/>
              <a:buFont typeface="Kanit"/>
              <a:buNone/>
            </a:pPr>
            <a:r>
              <a:rPr lang="en-US" sz="84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Regime Switching &amp; Allocation Adaptative</a:t>
            </a:r>
            <a:endParaRPr sz="8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320900" y="4415425"/>
            <a:ext cx="119886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Martel Sans Light"/>
              <a:buNone/>
            </a:pPr>
            <a:r>
              <a:rPr lang="en-US" sz="23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Détection de régimes de marché par Machine Learning (HMM &amp; K-Means) et intégration sur QuantConnect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0277400" y="6224950"/>
            <a:ext cx="303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ING4 - GR01 Finance</a:t>
            </a:r>
            <a:endParaRPr sz="2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Sujet H.4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1320892" y="6224940"/>
            <a:ext cx="502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BALAGUER Jules</a:t>
            </a:r>
            <a:endParaRPr sz="2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Brusset Marie-Anais</a:t>
            </a:r>
            <a:endParaRPr sz="2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FLOCH Anais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PLAN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2" name="Google Shape;62;p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1169174" y="3285825"/>
            <a:ext cx="5558100" cy="28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CONTEXTE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PROBLÉMATIQUE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ARCHITECTURE GLOBALE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AutoNum type="arabicPeriod"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LE MOTEUR PRÉDICTIF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361637" y="3647925"/>
            <a:ext cx="60996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5.   ALLOCATION ET SAFETY NET 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6.    DÉFIS RENCONTRÉS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0" lvl="0" marL="0" rtl="0" algn="l">
              <a:lnSpc>
                <a:spcPct val="15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7.	</a:t>
            </a:r>
            <a:r>
              <a:rPr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CONCLUSION</a:t>
            </a:r>
            <a:endParaRPr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302c5ef52_0_62"/>
          <p:cNvSpPr/>
          <p:nvPr/>
        </p:nvSpPr>
        <p:spPr>
          <a:xfrm>
            <a:off x="715208" y="2455542"/>
            <a:ext cx="3769500" cy="2510700"/>
          </a:xfrm>
          <a:prstGeom prst="roundRect">
            <a:avLst>
              <a:gd fmla="val 122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g3d302c5ef52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520" y="2659853"/>
            <a:ext cx="613053" cy="613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g3d302c5ef52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112" y="2828326"/>
            <a:ext cx="275866" cy="27586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d302c5ef52_0_62"/>
          <p:cNvSpPr/>
          <p:nvPr/>
        </p:nvSpPr>
        <p:spPr>
          <a:xfrm>
            <a:off x="919520" y="3447332"/>
            <a:ext cx="240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Kanit"/>
              <a:buNone/>
            </a:pPr>
            <a:r>
              <a:rPr lang="en-US" sz="18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Marchés dynamiques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302c5ef52_0_62"/>
          <p:cNvSpPr/>
          <p:nvPr/>
        </p:nvSpPr>
        <p:spPr>
          <a:xfrm>
            <a:off x="919520" y="3852383"/>
            <a:ext cx="33609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600"/>
              <a:buFont typeface="Martel Sans Light"/>
              <a:buNone/>
            </a:pPr>
            <a:r>
              <a:rPr lang="en-US" sz="1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Les marchés financiers ne sont pas statiques et évoluent constamment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302c5ef52_0_62"/>
          <p:cNvSpPr/>
          <p:nvPr/>
        </p:nvSpPr>
        <p:spPr>
          <a:xfrm>
            <a:off x="4659154" y="2455542"/>
            <a:ext cx="3769500" cy="2510700"/>
          </a:xfrm>
          <a:prstGeom prst="roundRect">
            <a:avLst>
              <a:gd fmla="val 122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g3d302c5ef52_0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63465" y="2659853"/>
            <a:ext cx="613053" cy="613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g3d302c5ef52_0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058" y="2828326"/>
            <a:ext cx="275866" cy="27586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d302c5ef52_0_62"/>
          <p:cNvSpPr/>
          <p:nvPr/>
        </p:nvSpPr>
        <p:spPr>
          <a:xfrm>
            <a:off x="4863465" y="3447332"/>
            <a:ext cx="240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Kanit"/>
              <a:buNone/>
            </a:pPr>
            <a:r>
              <a:rPr lang="en-US" sz="18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Protection du capital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302c5ef52_0_62"/>
          <p:cNvSpPr/>
          <p:nvPr/>
        </p:nvSpPr>
        <p:spPr>
          <a:xfrm>
            <a:off x="4863465" y="3852383"/>
            <a:ext cx="3360900" cy="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600"/>
              <a:buFont typeface="Martel Sans Light"/>
              <a:buNone/>
            </a:pPr>
            <a:r>
              <a:rPr lang="en-US" sz="1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Adapter dynamiquement le portefeuille aux conditions réelles du marché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302c5ef52_0_62"/>
          <p:cNvSpPr/>
          <p:nvPr/>
        </p:nvSpPr>
        <p:spPr>
          <a:xfrm>
            <a:off x="715208" y="5140520"/>
            <a:ext cx="7713600" cy="1904400"/>
          </a:xfrm>
          <a:prstGeom prst="roundRect">
            <a:avLst>
              <a:gd fmla="val 1610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g3d302c5ef52_0_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9520" y="5344831"/>
            <a:ext cx="613053" cy="613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g3d302c5ef52_0_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8112" y="5513305"/>
            <a:ext cx="275866" cy="27586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d302c5ef52_0_62"/>
          <p:cNvSpPr/>
          <p:nvPr/>
        </p:nvSpPr>
        <p:spPr>
          <a:xfrm>
            <a:off x="919520" y="6132311"/>
            <a:ext cx="240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Kanit"/>
              <a:buNone/>
            </a:pPr>
            <a:r>
              <a:rPr lang="en-US" sz="18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Maximiser les gains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d302c5ef52_0_62"/>
          <p:cNvSpPr/>
          <p:nvPr/>
        </p:nvSpPr>
        <p:spPr>
          <a:xfrm>
            <a:off x="919520" y="6537361"/>
            <a:ext cx="7305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600"/>
              <a:buFont typeface="Martel Sans Light"/>
              <a:buNone/>
            </a:pPr>
            <a:r>
              <a:rPr lang="en-US" sz="16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Capitaliser en période calme et protéger en période de tempête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g3d302c5ef52_0_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302c5ef52_0_62"/>
          <p:cNvSpPr/>
          <p:nvPr/>
        </p:nvSpPr>
        <p:spPr>
          <a:xfrm>
            <a:off x="7152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Comprendre les cycles du marché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7" name="Google Shape;87;g3d302c5ef52_0_6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88" name="Google Shape;88;g3d302c5ef52_0_62" title="Sans tire.png"/>
          <p:cNvPicPr preferRelativeResize="0"/>
          <p:nvPr/>
        </p:nvPicPr>
        <p:blipFill rotWithShape="1">
          <a:blip r:embed="rId10">
            <a:alphaModFix/>
          </a:blip>
          <a:srcRect b="5205" l="31288" r="20279" t="3646"/>
          <a:stretch/>
        </p:blipFill>
        <p:spPr>
          <a:xfrm>
            <a:off x="10732488" y="616563"/>
            <a:ext cx="2767151" cy="69964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d302c5ef52_0_62"/>
          <p:cNvSpPr txBox="1"/>
          <p:nvPr/>
        </p:nvSpPr>
        <p:spPr>
          <a:xfrm>
            <a:off x="11931425" y="616575"/>
            <a:ext cx="240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Actifs considérés</a:t>
            </a:r>
            <a:endParaRPr sz="20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g3d302c5ef52_0_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flipH="1">
            <a:off x="9764075" y="2455550"/>
            <a:ext cx="33750" cy="54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791700" y="870025"/>
            <a:ext cx="130470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1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5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Problématique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12475" y="3641375"/>
            <a:ext cx="81741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500"/>
              <a:buFont typeface="Martel Sans Light"/>
              <a:buNone/>
            </a:pPr>
            <a:r>
              <a:rPr b="1" lang="en-US" sz="35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Comment identifier objectivement l’état du marché pour adapter son allocation en consequence ?</a:t>
            </a:r>
            <a:endParaRPr b="1"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1500" y="2713350"/>
            <a:ext cx="5046425" cy="365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02c5ef52_0_110"/>
          <p:cNvSpPr/>
          <p:nvPr/>
        </p:nvSpPr>
        <p:spPr>
          <a:xfrm>
            <a:off x="791697" y="2784308"/>
            <a:ext cx="13047000" cy="26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14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50"/>
              <a:buFont typeface="Kanit"/>
              <a:buNone/>
            </a:pPr>
            <a:r>
              <a:rPr lang="en-US" sz="84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ARCHITECTURE GLOBALE </a:t>
            </a:r>
            <a:endParaRPr sz="84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encoded.png" id="107" name="Google Shape;107;g3d302c5ef52_0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d302c5ef52_0_11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185" y="1260090"/>
            <a:ext cx="4259580" cy="5722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117" name="Google Shape;117;p4" title="Crisis Activation and-2026-03-27-223243.png"/>
          <p:cNvPicPr preferRelativeResize="0"/>
          <p:nvPr/>
        </p:nvPicPr>
        <p:blipFill rotWithShape="1">
          <a:blip r:embed="rId4">
            <a:alphaModFix/>
          </a:blip>
          <a:srcRect b="85159" l="0" r="59043" t="0"/>
          <a:stretch/>
        </p:blipFill>
        <p:spPr>
          <a:xfrm>
            <a:off x="49775" y="2632825"/>
            <a:ext cx="4878124" cy="297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 title="Crisis Activation and-2026-03-27-223243.png"/>
          <p:cNvPicPr preferRelativeResize="0"/>
          <p:nvPr/>
        </p:nvPicPr>
        <p:blipFill rotWithShape="1">
          <a:blip r:embed="rId4">
            <a:alphaModFix/>
          </a:blip>
          <a:srcRect b="38482" l="0" r="0" t="14906"/>
          <a:stretch/>
        </p:blipFill>
        <p:spPr>
          <a:xfrm>
            <a:off x="4565300" y="132900"/>
            <a:ext cx="10161449" cy="797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102298" y="133240"/>
            <a:ext cx="4903850" cy="5427875"/>
          </a:xfrm>
          <a:custGeom>
            <a:rect b="b" l="l" r="r" t="t"/>
            <a:pathLst>
              <a:path extrusionOk="0" h="217115" w="196154">
                <a:moveTo>
                  <a:pt x="15758" y="215048"/>
                </a:moveTo>
                <a:cubicBezTo>
                  <a:pt x="15632" y="215048"/>
                  <a:pt x="17544" y="219698"/>
                  <a:pt x="15000" y="215048"/>
                </a:cubicBezTo>
                <a:cubicBezTo>
                  <a:pt x="12456" y="210398"/>
                  <a:pt x="-2928" y="218169"/>
                  <a:pt x="494" y="187146"/>
                </a:cubicBezTo>
                <a:cubicBezTo>
                  <a:pt x="3916" y="156123"/>
                  <a:pt x="6406" y="60023"/>
                  <a:pt x="35532" y="28909"/>
                </a:cubicBezTo>
                <a:cubicBezTo>
                  <a:pt x="64658" y="-2205"/>
                  <a:pt x="148480" y="3407"/>
                  <a:pt x="175250" y="464"/>
                </a:cubicBezTo>
                <a:cubicBezTo>
                  <a:pt x="202020" y="-2479"/>
                  <a:pt x="192670" y="9455"/>
                  <a:pt x="196154" y="11253"/>
                </a:cubicBezTo>
              </a:path>
            </a:pathLst>
          </a:cu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20" name="Google Shape;120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100" y="5511291"/>
            <a:ext cx="13144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3660500" y="119694"/>
            <a:ext cx="3983975" cy="5573675"/>
          </a:xfrm>
          <a:custGeom>
            <a:rect b="b" l="l" r="r" t="t"/>
            <a:pathLst>
              <a:path extrusionOk="0" h="222947" w="159359">
                <a:moveTo>
                  <a:pt x="0" y="215796"/>
                </a:moveTo>
                <a:cubicBezTo>
                  <a:pt x="5224" y="214060"/>
                  <a:pt x="15790" y="238698"/>
                  <a:pt x="31343" y="205382"/>
                </a:cubicBezTo>
                <a:cubicBezTo>
                  <a:pt x="46896" y="172066"/>
                  <a:pt x="71983" y="48452"/>
                  <a:pt x="93319" y="15898"/>
                </a:cubicBezTo>
                <a:cubicBezTo>
                  <a:pt x="114655" y="-16656"/>
                  <a:pt x="148352" y="11030"/>
                  <a:pt x="159359" y="10056"/>
                </a:cubicBezTo>
              </a:path>
            </a:pathLst>
          </a:cu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22" name="Google Shape;122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3825" y="5511291"/>
            <a:ext cx="1314450" cy="447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4"/>
          <p:cNvCxnSpPr/>
          <p:nvPr/>
        </p:nvCxnSpPr>
        <p:spPr>
          <a:xfrm flipH="1" rot="10800000">
            <a:off x="640650" y="4585225"/>
            <a:ext cx="1517400" cy="7908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043275" y="4760550"/>
            <a:ext cx="531300" cy="5769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" name="Google Shape;125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9525" y="227575"/>
            <a:ext cx="542925" cy="15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4"/>
          <p:cNvCxnSpPr/>
          <p:nvPr/>
        </p:nvCxnSpPr>
        <p:spPr>
          <a:xfrm flipH="1">
            <a:off x="12770600" y="3573975"/>
            <a:ext cx="9900" cy="9225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2775475" y="6075525"/>
            <a:ext cx="0" cy="7719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4"/>
          <p:cNvCxnSpPr/>
          <p:nvPr/>
        </p:nvCxnSpPr>
        <p:spPr>
          <a:xfrm flipH="1">
            <a:off x="12778750" y="5755475"/>
            <a:ext cx="1800" cy="1662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4" name="Google Shape;134;g3d302c5ef52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302c5ef52_0_14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136" name="Google Shape;136;g3d302c5ef52_0_148" title="Crisis Activation and-2026-03-27-223243.png"/>
          <p:cNvPicPr preferRelativeResize="0"/>
          <p:nvPr/>
        </p:nvPicPr>
        <p:blipFill rotWithShape="1">
          <a:blip r:embed="rId4">
            <a:alphaModFix/>
          </a:blip>
          <a:srcRect b="0" l="0" r="0" t="61430"/>
          <a:stretch/>
        </p:blipFill>
        <p:spPr>
          <a:xfrm>
            <a:off x="4177563" y="0"/>
            <a:ext cx="10391076" cy="6750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g3d302c5ef52_0_148"/>
          <p:cNvCxnSpPr/>
          <p:nvPr/>
        </p:nvCxnSpPr>
        <p:spPr>
          <a:xfrm flipH="1">
            <a:off x="6366350" y="0"/>
            <a:ext cx="49500" cy="58299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g3d302c5ef52_0_148"/>
          <p:cNvCxnSpPr/>
          <p:nvPr/>
        </p:nvCxnSpPr>
        <p:spPr>
          <a:xfrm>
            <a:off x="6361400" y="5823450"/>
            <a:ext cx="2842200" cy="4425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g3d302c5ef52_0_148"/>
          <p:cNvCxnSpPr/>
          <p:nvPr/>
        </p:nvCxnSpPr>
        <p:spPr>
          <a:xfrm>
            <a:off x="8648000" y="258950"/>
            <a:ext cx="3600" cy="6033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g3d302c5ef52_0_148"/>
          <p:cNvCxnSpPr/>
          <p:nvPr/>
        </p:nvCxnSpPr>
        <p:spPr>
          <a:xfrm flipH="1">
            <a:off x="11029275" y="238500"/>
            <a:ext cx="4200" cy="3978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1" name="Google Shape;141;g3d302c5ef52_0_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4025" y="5691350"/>
            <a:ext cx="3823775" cy="68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d302c5ef52_0_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1475" y="5605625"/>
            <a:ext cx="1702675" cy="3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d302c5ef52_0_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1000" y="5758025"/>
            <a:ext cx="434851" cy="26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d302c5ef52_0_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3975" y="5865075"/>
            <a:ext cx="434851" cy="26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g3d302c5ef52_0_148"/>
          <p:cNvCxnSpPr/>
          <p:nvPr/>
        </p:nvCxnSpPr>
        <p:spPr>
          <a:xfrm>
            <a:off x="8796326" y="5603525"/>
            <a:ext cx="460500" cy="4398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g3d302c5ef52_0_148"/>
          <p:cNvCxnSpPr>
            <a:endCxn id="143" idx="2"/>
          </p:cNvCxnSpPr>
          <p:nvPr/>
        </p:nvCxnSpPr>
        <p:spPr>
          <a:xfrm flipH="1">
            <a:off x="10668425" y="5675025"/>
            <a:ext cx="190200" cy="3495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g3d302c5ef52_0_148"/>
          <p:cNvCxnSpPr/>
          <p:nvPr/>
        </p:nvCxnSpPr>
        <p:spPr>
          <a:xfrm flipH="1">
            <a:off x="10648725" y="5676150"/>
            <a:ext cx="2324700" cy="7143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g3d302c5ef52_0_148"/>
          <p:cNvCxnSpPr/>
          <p:nvPr/>
        </p:nvCxnSpPr>
        <p:spPr>
          <a:xfrm flipH="1">
            <a:off x="8444100" y="4664000"/>
            <a:ext cx="2400" cy="4224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g3d302c5ef52_0_148"/>
          <p:cNvCxnSpPr/>
          <p:nvPr/>
        </p:nvCxnSpPr>
        <p:spPr>
          <a:xfrm flipH="1">
            <a:off x="10858500" y="4664000"/>
            <a:ext cx="7500" cy="3501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g3d302c5ef52_0_148"/>
          <p:cNvCxnSpPr/>
          <p:nvPr/>
        </p:nvCxnSpPr>
        <p:spPr>
          <a:xfrm>
            <a:off x="13571500" y="4661500"/>
            <a:ext cx="9900" cy="350100"/>
          </a:xfrm>
          <a:prstGeom prst="straightConnector1">
            <a:avLst/>
          </a:prstGeom>
          <a:noFill/>
          <a:ln cap="flat" cmpd="sng" w="19050">
            <a:solidFill>
              <a:srgbClr val="DBDFE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838950" y="870013"/>
            <a:ext cx="12952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Moteur prédictif - HMM et K-Means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951" y="2525958"/>
            <a:ext cx="1122998" cy="160246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2172689" y="2750510"/>
            <a:ext cx="264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050"/>
              <a:buFont typeface="Kanit"/>
              <a:buNone/>
            </a:pPr>
            <a:r>
              <a:rPr lang="en-US" sz="20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Gaussian HMM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172689" y="3207114"/>
            <a:ext cx="62382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750"/>
              <a:buFont typeface="Martel Sans Light"/>
              <a:buNone/>
            </a:pPr>
            <a:r>
              <a:rPr lang="en-US" sz="1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Hidden Markov Model : déduire les états cachés du marché en fonction des observations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951" y="4128420"/>
            <a:ext cx="1122998" cy="13476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2172689" y="4352972"/>
            <a:ext cx="264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050"/>
              <a:buFont typeface="Kanit"/>
              <a:buNone/>
            </a:pPr>
            <a:r>
              <a:rPr lang="en-US" sz="205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K-Means</a:t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172689" y="4809577"/>
            <a:ext cx="6238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750"/>
              <a:buFont typeface="Martel Sans Light"/>
              <a:buNone/>
            </a:pPr>
            <a:r>
              <a:rPr lang="en-US" sz="17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Confirmer la classification du HMM pour éviter l'overfitting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38950" y="5713148"/>
            <a:ext cx="7572000" cy="939900"/>
          </a:xfrm>
          <a:prstGeom prst="roundRect">
            <a:avLst>
              <a:gd fmla="val 2662" name="adj"/>
            </a:avLst>
          </a:prstGeom>
          <a:solidFill>
            <a:srgbClr val="4C01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3503" y="6018180"/>
            <a:ext cx="280749" cy="2245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/>
          <p:nvPr/>
        </p:nvSpPr>
        <p:spPr>
          <a:xfrm>
            <a:off x="1568800" y="5979953"/>
            <a:ext cx="6617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artel Sans Light"/>
              <a:buNone/>
            </a:pPr>
            <a:r>
              <a:rPr b="1" lang="en-US" sz="1750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Code en pur Numpy</a:t>
            </a:r>
            <a:r>
              <a:rPr lang="en-US" sz="1750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pour optimiser les performances de calcul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168" name="Google Shape;168;p5" title="WhatsApp Image 2026-03-27 at 6.18.20 PM.jpeg"/>
          <p:cNvPicPr preferRelativeResize="0"/>
          <p:nvPr/>
        </p:nvPicPr>
        <p:blipFill rotWithShape="1">
          <a:blip r:embed="rId7">
            <a:alphaModFix/>
          </a:blip>
          <a:srcRect b="49467" l="1375" r="29863" t="0"/>
          <a:stretch/>
        </p:blipFill>
        <p:spPr>
          <a:xfrm>
            <a:off x="8872300" y="3594788"/>
            <a:ext cx="5400076" cy="18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3196174" y="892207"/>
            <a:ext cx="8238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Allocation et Safety Net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37724" y="2312432"/>
            <a:ext cx="12954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sng">
                <a:solidFill>
                  <a:srgbClr val="D9E1FF"/>
                </a:solidFill>
                <a:latin typeface="Alata"/>
                <a:ea typeface="Alata"/>
                <a:cs typeface="Alata"/>
                <a:sym typeface="Alata"/>
              </a:rPr>
              <a:t>ALLOCATION GRADUELLE</a:t>
            </a:r>
            <a:endParaRPr b="1" sz="2500" u="sng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196697" y="3284620"/>
            <a:ext cx="3799500" cy="239400"/>
          </a:xfrm>
          <a:prstGeom prst="roundRect">
            <a:avLst>
              <a:gd fmla="val 15004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37724" y="3045245"/>
            <a:ext cx="718200" cy="718200"/>
          </a:xfrm>
          <a:prstGeom prst="roundRect">
            <a:avLst>
              <a:gd fmla="val 6367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3224791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077039" y="4002686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Régime Bull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077039" y="4498224"/>
            <a:ext cx="3680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85% Actions</a:t>
            </a: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, 10% Or, allocation offensive pour maximiser les gains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594747" y="3658553"/>
            <a:ext cx="3799642" cy="239316"/>
          </a:xfrm>
          <a:prstGeom prst="roundRect">
            <a:avLst>
              <a:gd fmla="val 15004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235773" y="3419177"/>
            <a:ext cx="718066" cy="718066"/>
          </a:xfrm>
          <a:prstGeom prst="roundRect">
            <a:avLst>
              <a:gd fmla="val 6367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5320" y="3598724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5475089" y="437661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Régime Neutral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475089" y="4872157"/>
            <a:ext cx="368010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Portefeuille équilibré, exposition modérée aux différents actifs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992797" y="4017654"/>
            <a:ext cx="3799800" cy="239400"/>
          </a:xfrm>
          <a:prstGeom prst="roundRect">
            <a:avLst>
              <a:gd fmla="val 15004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9633823" y="3778279"/>
            <a:ext cx="718200" cy="718200"/>
          </a:xfrm>
          <a:prstGeom prst="roundRect">
            <a:avLst>
              <a:gd fmla="val 63671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3369" y="3957825"/>
            <a:ext cx="358973" cy="35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9873139" y="4735720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Régime Bear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873139" y="5231258"/>
            <a:ext cx="36801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Rotation défensive</a:t>
            </a: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: Obligations, Or, et 20% Matières Premières (DJP)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37724" y="6888837"/>
            <a:ext cx="12954952" cy="4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sng">
                <a:solidFill>
                  <a:srgbClr val="D9E1FF"/>
                </a:solidFill>
                <a:latin typeface="Alata"/>
                <a:ea typeface="Alata"/>
                <a:cs typeface="Alata"/>
                <a:sym typeface="Alata"/>
              </a:rPr>
              <a:t>DÉTECTEUR DE CRISE QUOTIDIEN </a:t>
            </a: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(</a:t>
            </a:r>
            <a:r>
              <a:rPr b="1" lang="en-US" sz="1850">
                <a:solidFill>
                  <a:srgbClr val="1F7135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_daily_crisis_check</a:t>
            </a:r>
            <a:r>
              <a:rPr b="1"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)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6324149" y="2877604"/>
            <a:ext cx="7468500" cy="1418100"/>
          </a:xfrm>
          <a:prstGeom prst="roundRect">
            <a:avLst>
              <a:gd fmla="val 10317" name="adj"/>
            </a:avLst>
          </a:prstGeom>
          <a:solidFill>
            <a:srgbClr val="100C35"/>
          </a:solidFill>
          <a:ln cap="flat" cmpd="sng" w="30475">
            <a:solidFill>
              <a:srgbClr val="4844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3669" y="2877603"/>
            <a:ext cx="121920" cy="141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/>
          <p:nvPr/>
        </p:nvSpPr>
        <p:spPr>
          <a:xfrm>
            <a:off x="6685384" y="3147399"/>
            <a:ext cx="43398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Environnement de développement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685384" y="3642938"/>
            <a:ext cx="6837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QuantConnect - VsCode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324149" y="4535073"/>
            <a:ext cx="7468500" cy="1418100"/>
          </a:xfrm>
          <a:prstGeom prst="roundRect">
            <a:avLst>
              <a:gd fmla="val 10317" name="adj"/>
            </a:avLst>
          </a:prstGeom>
          <a:solidFill>
            <a:srgbClr val="100C35"/>
          </a:solidFill>
          <a:ln cap="flat" cmpd="sng" w="30475">
            <a:solidFill>
              <a:srgbClr val="4844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3669" y="4535073"/>
            <a:ext cx="121920" cy="141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6685384" y="4804869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Classification stable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685384" y="5300407"/>
            <a:ext cx="6837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50"/>
              <a:buFont typeface="Martel Sans Light"/>
              <a:buNone/>
            </a:pPr>
            <a:r>
              <a:rPr lang="en-US" sz="185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Challenge de labelling 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Défis rencontrés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9" name="Google Shape;209;p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  <p:pic>
        <p:nvPicPr>
          <p:cNvPr id="210" name="Google Shape;210;p7"/>
          <p:cNvPicPr preferRelativeResize="0"/>
          <p:nvPr/>
        </p:nvPicPr>
        <p:blipFill rotWithShape="1">
          <a:blip r:embed="rId5">
            <a:alphaModFix/>
          </a:blip>
          <a:srcRect b="13412" l="0" r="27536" t="0"/>
          <a:stretch/>
        </p:blipFill>
        <p:spPr>
          <a:xfrm>
            <a:off x="436225" y="2389124"/>
            <a:ext cx="5311600" cy="356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802838" y="2120027"/>
            <a:ext cx="4318040" cy="53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Kanit"/>
              <a:buNone/>
            </a:pPr>
            <a:r>
              <a:rPr b="1" lang="en-US" sz="2500" u="sng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BILAN  </a:t>
            </a:r>
            <a:endParaRPr b="1" sz="2500" u="sng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02763" y="2862771"/>
            <a:ext cx="6402600" cy="1646400"/>
          </a:xfrm>
          <a:prstGeom prst="roundRect">
            <a:avLst>
              <a:gd fmla="val 2090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032073" y="3092075"/>
            <a:ext cx="488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Validation des objectifs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032078" y="3561192"/>
            <a:ext cx="5943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Objectifs de niveau "Excellent" atteints avec succès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425020" y="2862771"/>
            <a:ext cx="6402600" cy="1646400"/>
          </a:xfrm>
          <a:prstGeom prst="roundRect">
            <a:avLst>
              <a:gd fmla="val 2090" name="adj"/>
            </a:avLst>
          </a:prstGeom>
          <a:solidFill>
            <a:srgbClr val="2F2B5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654334" y="3092086"/>
            <a:ext cx="2698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Approche hybride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654334" y="3561192"/>
            <a:ext cx="59439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Vision macroéconomique mensuelle + réactivité microéconomique quotidienne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02838" y="4965502"/>
            <a:ext cx="5699165" cy="53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Kanit"/>
              <a:buNone/>
            </a:pPr>
            <a:r>
              <a:rPr b="1" lang="en-US" sz="2500" u="sng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PISTES D'AMÉLIORATION FUTURES</a:t>
            </a:r>
            <a:endParaRPr b="1" sz="2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02763" y="5698521"/>
            <a:ext cx="229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Kanit Light"/>
              <a:buNone/>
            </a:pPr>
            <a:r>
              <a:rPr lang="en-US" sz="1800">
                <a:solidFill>
                  <a:srgbClr val="D9E1FF"/>
                </a:solidFill>
                <a:latin typeface="Kanit Light"/>
                <a:ea typeface="Kanit Light"/>
                <a:cs typeface="Kanit Light"/>
                <a:sym typeface="Kanit Light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413" y="6071202"/>
            <a:ext cx="6402467" cy="3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802779" y="6233475"/>
            <a:ext cx="4745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Données macro-économiques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802763" y="6702575"/>
            <a:ext cx="6402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Intégrer des indicateurs macro dans les features du modèle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425031" y="5698525"/>
            <a:ext cx="495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Kanit Light"/>
              <a:buNone/>
            </a:pPr>
            <a:r>
              <a:rPr lang="en-US" sz="1800">
                <a:solidFill>
                  <a:srgbClr val="D9E1FF"/>
                </a:solidFill>
                <a:latin typeface="Kanit Light"/>
                <a:ea typeface="Kanit Light"/>
                <a:cs typeface="Kanit Light"/>
                <a:sym typeface="Kanit Light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5020" y="6057852"/>
            <a:ext cx="6402467" cy="3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7425027" y="6233475"/>
            <a:ext cx="4523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00"/>
              <a:buFont typeface="Kanit"/>
              <a:buNone/>
            </a:pPr>
            <a:r>
              <a:rPr b="1" lang="en-US" sz="2100">
                <a:solidFill>
                  <a:srgbClr val="D9E1FF"/>
                </a:solidFill>
                <a:latin typeface="Kanit"/>
                <a:ea typeface="Kanit"/>
                <a:cs typeface="Kanit"/>
                <a:sym typeface="Kanit"/>
              </a:rPr>
              <a:t>Optimisation Walk-Forward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425020" y="6702575"/>
            <a:ext cx="6402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800"/>
              <a:buFont typeface="Martel Sans Light"/>
              <a:buNone/>
            </a:pPr>
            <a:r>
              <a:rPr lang="en-US" sz="18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Implémenter une logique d'optimisation glissante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5400000">
            <a:off x="3987125" y="2845749"/>
            <a:ext cx="33750" cy="63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5400000">
            <a:off x="10609375" y="2845749"/>
            <a:ext cx="33750" cy="63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Conclusion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6" name="Google Shape;236;p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1525" y="7540325"/>
            <a:ext cx="1868874" cy="6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1470600" y="870025"/>
            <a:ext cx="116892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anit"/>
              <a:buNone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SOURCES</a:t>
            </a:r>
            <a:endParaRPr sz="6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470600" y="2481550"/>
            <a:ext cx="11689200" cy="4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Notebooks : </a:t>
            </a:r>
            <a:endParaRPr b="1"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Char char="●"/>
            </a:pPr>
            <a:r>
              <a:rPr b="1" lang="en-US" sz="3000" u="sng">
                <a:solidFill>
                  <a:schemeClr val="hlink"/>
                </a:solidFill>
                <a:latin typeface="Martel Sans Light"/>
                <a:ea typeface="Martel Sans Light"/>
                <a:cs typeface="Martel Sans Light"/>
                <a:sym typeface="Martel Sans Light"/>
                <a:hlinkClick r:id="rId4"/>
              </a:rPr>
              <a:t>QC-Py-10 - Risk et Portfolio Management</a:t>
            </a:r>
            <a:r>
              <a:rPr b="1"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	</a:t>
            </a:r>
            <a:endParaRPr b="1"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Char char="●"/>
            </a:pPr>
            <a:r>
              <a:rPr b="1" lang="en-US" sz="3000" u="sng">
                <a:solidFill>
                  <a:schemeClr val="hlink"/>
                </a:solidFill>
                <a:latin typeface="Martel Sans Light"/>
                <a:ea typeface="Martel Sans Light"/>
                <a:cs typeface="Martel Sans Light"/>
                <a:sym typeface="Martel Sans Light"/>
                <a:hlinkClick r:id="rId5"/>
              </a:rPr>
              <a:t>QC-Py-11 - Indicateurs Techniques</a:t>
            </a:r>
            <a:r>
              <a:rPr b="1" lang="en-US" sz="3000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	</a:t>
            </a:r>
            <a:endParaRPr b="1" sz="3000">
              <a:solidFill>
                <a:srgbClr val="D9E1FF"/>
              </a:solidFill>
              <a:latin typeface="Martel Sans Light"/>
              <a:ea typeface="Martel Sans Light"/>
              <a:cs typeface="Martel Sans Light"/>
              <a:sym typeface="Martel Sans Light"/>
            </a:endParaRPr>
          </a:p>
          <a:p>
            <a:pPr indent="-419100" lvl="0" marL="457200" rtl="0" algn="l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3000"/>
              <a:buFont typeface="Martel Sans Light"/>
              <a:buChar char="●"/>
            </a:pPr>
            <a:r>
              <a:rPr b="1" lang="en-US" sz="3000" u="sng">
                <a:solidFill>
                  <a:schemeClr val="hlink"/>
                </a:solidFill>
                <a:latin typeface="Martel Sans Light"/>
                <a:ea typeface="Martel Sans Light"/>
                <a:cs typeface="Martel Sans Light"/>
                <a:sym typeface="Martel Sans Light"/>
                <a:hlinkClick r:id="rId6"/>
              </a:rPr>
              <a:t>QC-Py-08 - Strategies Multi-Asset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5" name="Google Shape;245;p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34100" lIns="134100" spcFirstLastPara="1" rIns="134100" wrap="square" tIns="13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2026-03-27T13:18:14Z</dcterms:created>
</cp:coreProperties>
</file>